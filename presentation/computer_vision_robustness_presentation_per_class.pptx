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8" r:id="rId7"/>
    <p:sldId id="270" r:id="rId8"/>
    <p:sldId id="272" r:id="rId9"/>
    <p:sldId id="261" r:id="rId10"/>
    <p:sldId id="274" r:id="rId11"/>
    <p:sldId id="276" r:id="rId12"/>
    <p:sldId id="278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521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917" y="755157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Robustness of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Models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820147" y="5184045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2222"/>
                </a:solidFill>
              </a:rPr>
              <a:t>Project by: Ayelet &amp; Noa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1355" y="5779699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</a:rPr>
              <a:t>BDD100K road scenes · YOLOv8 · Mask R-CNN · MiDaS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0">
                <a:solidFill>
                  <a:srgbClr val="58636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3400" y="351224"/>
            <a:ext cx="10789920" cy="222501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vision models behave when image quality drops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three tasks: object detection, instance segmentation and depth estimation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clean baselines, classical enhancement and fine-tuning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when simple filtering is enough and when model adaptation is needed</a:t>
            </a:r>
            <a:endParaRPr lang="en-US" sz="1700" dirty="0"/>
          </a:p>
        </p:txBody>
      </p:sp>
      <p:pic>
        <p:nvPicPr>
          <p:cNvPr id="5" name="Image 0" descr="/mnt/data/final_github_submission/images/task1_yolov8/low_light_clean/02_low_light_distortion_sweep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776" y="2135192"/>
            <a:ext cx="7112447" cy="4137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0" y="62507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gradual low-light degradation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784830"/>
            <a:ext cx="7707702" cy="178998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clean images and define a baseline output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distortion at several severity levels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model again and compare against the clean baseline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Recall and Precision (when needed)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detection and segmentation Use RMSE and SSIM for depth-map comparison</a:t>
            </a:r>
          </a:p>
          <a:p>
            <a:endParaRPr lang="en-US" sz="16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455742" y="6281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baseline outputs were used as the reference for later comparisons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3</a:t>
            </a:r>
            <a:endParaRPr lang="en-US" sz="750" dirty="0"/>
          </a:p>
        </p:txBody>
      </p:sp>
      <p:pic>
        <p:nvPicPr>
          <p:cNvPr id="10" name="Image 1" descr="/mnt/data/final_github_submission/images/task2_mask_rcnn/gaussian_noise_clean/02_mask_rcnn_gaussian_results_clean.png">
            <a:extLst>
              <a:ext uri="{FF2B5EF4-FFF2-40B4-BE49-F238E27FC236}">
                <a16:creationId xmlns:a16="http://schemas.microsoft.com/office/drawing/2014/main" id="{AD951B64-8A66-BE33-9E08-A2343E723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476" y="2277635"/>
            <a:ext cx="6837412" cy="40111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831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78638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YOLOv8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" y="1243586"/>
            <a:ext cx="32004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vs. distortion level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loss and misclassification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34256" y="78638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Mask R-CNN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52544" y="957619"/>
            <a:ext cx="329184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Precision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masks under noise and compression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82128" y="78638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MiDaS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82128" y="819880"/>
            <a:ext cx="32461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depth estimation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lower is better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SSIM, higher is better</a:t>
            </a:r>
            <a:endParaRPr lang="en-US" sz="1450" dirty="0"/>
          </a:p>
        </p:txBody>
      </p:sp>
      <p:pic>
        <p:nvPicPr>
          <p:cNvPr id="10" name="Image 0" descr="/mnt/data/final_github_submission/images/task1_yolov8/low_light_clean/01_baseline_detections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52" y="2260426"/>
            <a:ext cx="4066065" cy="1449796"/>
          </a:xfrm>
          <a:prstGeom prst="rect">
            <a:avLst/>
          </a:prstGeom>
        </p:spPr>
      </p:pic>
      <p:pic>
        <p:nvPicPr>
          <p:cNvPr id="12" name="Image 2" descr="/mnt/data/final_github_submission/images/task3_midas/baseline_clean/02_roi_corrected_baseline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1766729"/>
            <a:ext cx="3100694" cy="44557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98064" y="6373367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three tasks, separate metrics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4</a:t>
            </a:r>
            <a:endParaRPr lang="en-US" sz="750" dirty="0"/>
          </a:p>
        </p:txBody>
      </p:sp>
      <p:pic>
        <p:nvPicPr>
          <p:cNvPr id="17" name="Image 0" descr="/mnt/data/final_github_submission/images/task2_mask_rcnn/baseline_clean/01_mask_rcnn_baseline_clean.png">
            <a:extLst>
              <a:ext uri="{FF2B5EF4-FFF2-40B4-BE49-F238E27FC236}">
                <a16:creationId xmlns:a16="http://schemas.microsoft.com/office/drawing/2014/main" id="{748BA7B3-388A-52B8-7161-BF39630C3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1988523"/>
            <a:ext cx="2721116" cy="4389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YOLOv8: Detection Robustness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44160"/>
            <a:ext cx="4879667" cy="122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light gradually removes visible objects from the detector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reduces feature stability and confidence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artifacts may create false object-like structures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improves recall under difficult distortions, but the original model can remain best under mild distortion</a:t>
            </a:r>
            <a:endParaRPr lang="en-US" sz="1500" dirty="0"/>
          </a:p>
        </p:txBody>
      </p:sp>
      <p:pic>
        <p:nvPicPr>
          <p:cNvPr id="5" name="Image 0" descr="/mnt/data/final_github_submission/images/task1_yolov8/low_light_clean/09_fine_tuned_model_comparis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3" y="2836541"/>
            <a:ext cx="5543499" cy="3559687"/>
          </a:xfrm>
          <a:prstGeom prst="rect">
            <a:avLst/>
          </a:prstGeom>
        </p:spPr>
      </p:pic>
      <p:pic>
        <p:nvPicPr>
          <p:cNvPr id="6" name="Image 1" descr="/mnt/data/final_github_submission/images/task1_yolov8/jpeg_clean/06_fine_tuned_jpeg_comparison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502" y="260224"/>
            <a:ext cx="6130792" cy="3426399"/>
          </a:xfrm>
          <a:prstGeom prst="rect">
            <a:avLst/>
          </a:prstGeom>
        </p:spPr>
      </p:pic>
      <p:pic>
        <p:nvPicPr>
          <p:cNvPr id="7" name="Image 2" descr="/mnt/data/final_github_submission/images/task1_yolov8/gaussian_noise_clean/07_gaussian_noise_final_bar_chart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425" y="3716349"/>
            <a:ext cx="4388077" cy="26208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7302" y="633719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results show a clear trade-off between clean accuracy and robustness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i="0">
                <a:solidFill>
                  <a:srgbClr val="1F5B7C"/>
                </a:solidFill>
                <a:latin typeface="Aptos"/>
              </a:rPr>
              <a:t>YOLOv8 Per-Class Recovery: Low 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20252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 dirty="0">
                <a:solidFill>
                  <a:srgbClr val="58636C"/>
                </a:solidFill>
                <a:latin typeface="Aptos"/>
              </a:rPr>
              <a:t>5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 and 300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-image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s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 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201400" cy="2286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w_light_5_images_b_minus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59" y="905256"/>
            <a:ext cx="6389401" cy="30439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 i="0">
                <a:solidFill>
                  <a:srgbClr val="58636C"/>
                </a:solidFill>
                <a:latin typeface="Aptos"/>
              </a:rPr>
              <a:t>Ayelet &amp; Noa | Computer Vision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0">
                <a:solidFill>
                  <a:srgbClr val="58636C"/>
                </a:solidFill>
                <a:latin typeface="Aptos"/>
              </a:rPr>
              <a:t>6</a:t>
            </a:r>
          </a:p>
        </p:txBody>
      </p:sp>
      <p:pic>
        <p:nvPicPr>
          <p:cNvPr id="10" name="Picture 4" descr="low_light_300_images_b_minus_0_3.png">
            <a:extLst>
              <a:ext uri="{FF2B5EF4-FFF2-40B4-BE49-F238E27FC236}">
                <a16:creationId xmlns:a16="http://schemas.microsoft.com/office/drawing/2014/main" id="{5B6EDF64-9E8A-14E7-5B4B-F9A25D59C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902018"/>
            <a:ext cx="8574723" cy="2791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i="0">
                <a:solidFill>
                  <a:srgbClr val="1F5B7C"/>
                </a:solidFill>
                <a:latin typeface="Aptos"/>
              </a:rPr>
              <a:t>YOLOv8 Per-Class Recovery: Gaussian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201400" cy="2286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aussian_noise_5_images_std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298" y="1234440"/>
            <a:ext cx="5958168" cy="28280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 i="0">
                <a:solidFill>
                  <a:srgbClr val="58636C"/>
                </a:solidFill>
                <a:latin typeface="Aptos"/>
              </a:rPr>
              <a:t>Ayelet &amp; Noa | Computer Vision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0">
                <a:solidFill>
                  <a:srgbClr val="58636C"/>
                </a:solidFill>
                <a:latin typeface="Aptos"/>
              </a:rPr>
              <a:t>8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1610B414-99B3-35FF-BAA0-03A0CC3F4782}"/>
              </a:ext>
            </a:extLst>
          </p:cNvPr>
          <p:cNvSpPr txBox="1"/>
          <p:nvPr/>
        </p:nvSpPr>
        <p:spPr>
          <a:xfrm>
            <a:off x="530352" y="777240"/>
            <a:ext cx="20252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 dirty="0">
                <a:solidFill>
                  <a:srgbClr val="58636C"/>
                </a:solidFill>
                <a:latin typeface="Aptos"/>
              </a:rPr>
              <a:t>5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 and 300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-image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s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 sample</a:t>
            </a:r>
          </a:p>
        </p:txBody>
      </p:sp>
      <p:pic>
        <p:nvPicPr>
          <p:cNvPr id="12" name="Picture 4" descr="gaussian_noise_300_images_std_60.png">
            <a:extLst>
              <a:ext uri="{FF2B5EF4-FFF2-40B4-BE49-F238E27FC236}">
                <a16:creationId xmlns:a16="http://schemas.microsoft.com/office/drawing/2014/main" id="{27801830-41F5-5E68-83CB-5B993029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105752"/>
            <a:ext cx="7647317" cy="24322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i="0">
                <a:solidFill>
                  <a:srgbClr val="1F5B7C"/>
                </a:solidFill>
                <a:latin typeface="Aptos"/>
              </a:rPr>
              <a:t>YOLOv8 Per-Class Recovery: JPEG Compression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201400" cy="2286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peg_5_images_q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532" y="943971"/>
            <a:ext cx="5881583" cy="27311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 i="0">
                <a:solidFill>
                  <a:srgbClr val="58636C"/>
                </a:solidFill>
                <a:latin typeface="Aptos"/>
              </a:rPr>
              <a:t>Ayelet &amp; Noa | Computer Vision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0">
                <a:solidFill>
                  <a:srgbClr val="58636C"/>
                </a:solidFill>
                <a:latin typeface="Aptos"/>
              </a:rPr>
              <a:t>10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52E2E4BA-1D2C-CF51-5E3F-095EC3994A21}"/>
              </a:ext>
            </a:extLst>
          </p:cNvPr>
          <p:cNvSpPr txBox="1"/>
          <p:nvPr/>
        </p:nvSpPr>
        <p:spPr>
          <a:xfrm>
            <a:off x="530352" y="777240"/>
            <a:ext cx="20252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 dirty="0">
                <a:solidFill>
                  <a:srgbClr val="58636C"/>
                </a:solidFill>
                <a:latin typeface="Aptos"/>
              </a:rPr>
              <a:t>5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 and 300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-image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s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 sample</a:t>
            </a:r>
          </a:p>
        </p:txBody>
      </p:sp>
      <p:pic>
        <p:nvPicPr>
          <p:cNvPr id="14" name="Picture 4" descr="jpeg_300_images_q8.png">
            <a:extLst>
              <a:ext uri="{FF2B5EF4-FFF2-40B4-BE49-F238E27FC236}">
                <a16:creationId xmlns:a16="http://schemas.microsoft.com/office/drawing/2014/main" id="{9A040C37-29DA-5A19-6A57-1AF4A9BEB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94616"/>
            <a:ext cx="7948847" cy="2532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R-CNN: Segmentation Robustness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650715"/>
            <a:ext cx="6298146" cy="128964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masks become unstable when textures are corrupted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filters can help, but the effect depends on the distortion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was trained with pseudo-labels generated from clean images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extreme noise and compression, the fine-tuned model preserved higher recall</a:t>
            </a:r>
            <a:endParaRPr lang="en-US" sz="1500" dirty="0"/>
          </a:p>
        </p:txBody>
      </p:sp>
      <p:pic>
        <p:nvPicPr>
          <p:cNvPr id="5" name="Image 0" descr="/mnt/data/final_github_submission/images/task2_mask_rcnn/gaussian_noise_clean/08_finetuned_gaussian_comparis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09" y="1881947"/>
            <a:ext cx="7066170" cy="2690441"/>
          </a:xfrm>
          <a:prstGeom prst="rect">
            <a:avLst/>
          </a:prstGeom>
        </p:spPr>
      </p:pic>
      <p:pic>
        <p:nvPicPr>
          <p:cNvPr id="6" name="Image 1" descr="/mnt/data/final_github_submission/images/task2_mask_rcnn/jpeg_clean/07_finetuned_jpeg_comparison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198" y="4430646"/>
            <a:ext cx="5873454" cy="21987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-187247" y="5697769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compared against the original model and classical enhancement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12</a:t>
            </a:r>
            <a:endParaRPr lang="en-US" sz="750" dirty="0"/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103CB833-992C-21C9-5A4F-824922CCE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026" y="157536"/>
            <a:ext cx="4989626" cy="26904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i="0">
                <a:solidFill>
                  <a:srgbClr val="1F5B7C"/>
                </a:solidFill>
                <a:latin typeface="Aptos"/>
              </a:rPr>
              <a:t>Mask R-CNN Per-Class Recovery: Low 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201400" cy="2286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w_light_5_images_b_minus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649" y="1234440"/>
            <a:ext cx="6042305" cy="2906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 i="0">
                <a:solidFill>
                  <a:srgbClr val="58636C"/>
                </a:solidFill>
                <a:latin typeface="Aptos"/>
              </a:rPr>
              <a:t>Ayelet &amp; Noa | Computer Vision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0">
                <a:solidFill>
                  <a:srgbClr val="58636C"/>
                </a:solidFill>
                <a:latin typeface="Aptos"/>
              </a:rPr>
              <a:t>13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EB300AD2-69AC-71C0-B043-D65FD03005C2}"/>
              </a:ext>
            </a:extLst>
          </p:cNvPr>
          <p:cNvSpPr txBox="1"/>
          <p:nvPr/>
        </p:nvSpPr>
        <p:spPr>
          <a:xfrm>
            <a:off x="530352" y="777240"/>
            <a:ext cx="20252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 dirty="0">
                <a:solidFill>
                  <a:srgbClr val="58636C"/>
                </a:solidFill>
                <a:latin typeface="Aptos"/>
              </a:rPr>
              <a:t>5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 and 300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-image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s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 sample</a:t>
            </a:r>
          </a:p>
        </p:txBody>
      </p:sp>
      <p:pic>
        <p:nvPicPr>
          <p:cNvPr id="14" name="Picture 4" descr="low_light_300_images_b_minus_0_3.png">
            <a:extLst>
              <a:ext uri="{FF2B5EF4-FFF2-40B4-BE49-F238E27FC236}">
                <a16:creationId xmlns:a16="http://schemas.microsoft.com/office/drawing/2014/main" id="{6F5545DC-7CF7-6741-9599-99EA9549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140921"/>
            <a:ext cx="7506706" cy="24911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i="0">
                <a:solidFill>
                  <a:srgbClr val="1F5B7C"/>
                </a:solidFill>
                <a:latin typeface="Aptos"/>
              </a:rPr>
              <a:t>Mask R-CNN Per-Class Recovery: Gaussian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201400" cy="2286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aussian_noise_5_images_std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745" y="923434"/>
            <a:ext cx="5708456" cy="2806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 i="0">
                <a:solidFill>
                  <a:srgbClr val="58636C"/>
                </a:solidFill>
                <a:latin typeface="Aptos"/>
              </a:rPr>
              <a:t>Ayelet &amp; Noa | Computer Vision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0">
                <a:solidFill>
                  <a:srgbClr val="58636C"/>
                </a:solidFill>
                <a:latin typeface="Aptos"/>
              </a:rPr>
              <a:t>15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C7E6F7A2-F9D5-B3B4-64BF-B9171BDC7F33}"/>
              </a:ext>
            </a:extLst>
          </p:cNvPr>
          <p:cNvSpPr txBox="1"/>
          <p:nvPr/>
        </p:nvSpPr>
        <p:spPr>
          <a:xfrm>
            <a:off x="530352" y="777240"/>
            <a:ext cx="20252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 dirty="0">
                <a:solidFill>
                  <a:srgbClr val="58636C"/>
                </a:solidFill>
                <a:latin typeface="Aptos"/>
              </a:rPr>
              <a:t>5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 and 300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-image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s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 sample</a:t>
            </a:r>
          </a:p>
        </p:txBody>
      </p:sp>
      <p:pic>
        <p:nvPicPr>
          <p:cNvPr id="12" name="Picture 4" descr="gaussian_noise_300_images_std_60.png">
            <a:extLst>
              <a:ext uri="{FF2B5EF4-FFF2-40B4-BE49-F238E27FC236}">
                <a16:creationId xmlns:a16="http://schemas.microsoft.com/office/drawing/2014/main" id="{CEE453BF-A1B5-FD93-6419-2430F1C1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02" y="3730994"/>
            <a:ext cx="8647981" cy="28069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i="0">
                <a:solidFill>
                  <a:srgbClr val="1F5B7C"/>
                </a:solidFill>
                <a:latin typeface="Aptos"/>
              </a:rPr>
              <a:t>Mask R-CNN Per-Class Recovery: JPEG Compression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201400" cy="2286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peg_5_images_q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68" y="923434"/>
            <a:ext cx="6357128" cy="3083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 i="0">
                <a:solidFill>
                  <a:srgbClr val="58636C"/>
                </a:solidFill>
                <a:latin typeface="Aptos"/>
              </a:rPr>
              <a:t>Ayelet &amp; Noa | Computer Vision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0">
                <a:solidFill>
                  <a:srgbClr val="58636C"/>
                </a:solidFill>
                <a:latin typeface="Aptos"/>
              </a:rPr>
              <a:t>17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6D7867D-D64D-C214-B167-06102A3E093B}"/>
              </a:ext>
            </a:extLst>
          </p:cNvPr>
          <p:cNvSpPr txBox="1"/>
          <p:nvPr/>
        </p:nvSpPr>
        <p:spPr>
          <a:xfrm>
            <a:off x="530352" y="777240"/>
            <a:ext cx="20252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 dirty="0">
                <a:solidFill>
                  <a:srgbClr val="58636C"/>
                </a:solidFill>
                <a:latin typeface="Aptos"/>
              </a:rPr>
              <a:t>5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 and 300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-image</a:t>
            </a:r>
            <a:r>
              <a:rPr lang="en-US" sz="1300" b="0" i="1" dirty="0">
                <a:solidFill>
                  <a:srgbClr val="58636C"/>
                </a:solidFill>
                <a:latin typeface="Aptos"/>
              </a:rPr>
              <a:t>s</a:t>
            </a:r>
            <a:r>
              <a:rPr sz="1300" b="0" i="1" dirty="0">
                <a:solidFill>
                  <a:srgbClr val="58636C"/>
                </a:solidFill>
                <a:latin typeface="Aptos"/>
              </a:rPr>
              <a:t> sample</a:t>
            </a:r>
          </a:p>
        </p:txBody>
      </p:sp>
      <p:pic>
        <p:nvPicPr>
          <p:cNvPr id="12" name="Picture 4" descr="jpeg_300_images_q15.png">
            <a:extLst>
              <a:ext uri="{FF2B5EF4-FFF2-40B4-BE49-F238E27FC236}">
                <a16:creationId xmlns:a16="http://schemas.microsoft.com/office/drawing/2014/main" id="{CA448475-AD2E-3899-A9F1-54461927E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103264"/>
            <a:ext cx="7310887" cy="25718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MiDaS: Depth Estimation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32120" y="373084"/>
            <a:ext cx="6415465" cy="99635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predicts a relative depth map from a single image</a:t>
            </a:r>
            <a:endParaRPr lang="en-US" sz="1550" dirty="0"/>
          </a:p>
          <a:p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region was removed from evaluation using an upper 80% ROI</a:t>
            </a:r>
            <a:endParaRPr lang="en-US" sz="1550" dirty="0"/>
          </a:p>
          <a:p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maps were normalized before comparison</a:t>
            </a:r>
            <a:endParaRPr lang="en-US" sz="1550" dirty="0"/>
          </a:p>
          <a:p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captures numeric error; SSIM captures structural similarity</a:t>
            </a:r>
            <a:endParaRPr lang="en-US" sz="1550" dirty="0"/>
          </a:p>
        </p:txBody>
      </p:sp>
      <p:pic>
        <p:nvPicPr>
          <p:cNvPr id="5" name="Image 0" descr="/mnt/data/final_github_submission/images/task3_midas/baseline_clean/01_initial_midas_baselin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720" y="1350509"/>
            <a:ext cx="3637758" cy="5129816"/>
          </a:xfrm>
          <a:prstGeom prst="rect">
            <a:avLst/>
          </a:prstGeom>
        </p:spPr>
      </p:pic>
      <p:pic>
        <p:nvPicPr>
          <p:cNvPr id="6" name="Image 1" descr="/mnt/data/final_github_submission/images/task3_midas/baseline_clean/02_roi_corrected_baseline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19" y="1441728"/>
            <a:ext cx="3637759" cy="52275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2542" y="6522443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depth maps before and after ROI correction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under Low Light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weakens the visual signal used for depth estimation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3840480" cy="14982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increases as the image becomes darker</a:t>
            </a:r>
            <a:endParaRPr lang="en-US" sz="1520" dirty="0"/>
          </a:p>
          <a:p>
            <a:r>
              <a:rPr lang="en-US" sz="15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decreases because the depth structure changes</a:t>
            </a:r>
            <a:endParaRPr lang="en-US" sz="1520" dirty="0"/>
          </a:p>
          <a:p>
            <a:r>
              <a:rPr lang="en-US" sz="15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helps mainly under strong darkness</a:t>
            </a:r>
            <a:endParaRPr lang="en-US" sz="1520" dirty="0"/>
          </a:p>
          <a:p>
            <a:r>
              <a:rPr lang="en-US" sz="152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gives the most reliable recovery at extreme low light</a:t>
            </a:r>
            <a:endParaRPr lang="en-US" sz="1520" dirty="0"/>
          </a:p>
        </p:txBody>
      </p:sp>
      <p:pic>
        <p:nvPicPr>
          <p:cNvPr id="5" name="Image 0" descr="/mnt/data/final_github_submission/images/task3_midas/low_light_clean/06_finetuned_rmse_comparis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32" y="3031589"/>
            <a:ext cx="5898016" cy="3364639"/>
          </a:xfrm>
          <a:prstGeom prst="rect">
            <a:avLst/>
          </a:prstGeom>
        </p:spPr>
      </p:pic>
      <p:pic>
        <p:nvPicPr>
          <p:cNvPr id="6" name="Image 1" descr="/mnt/data/final_github_submission/images/task3_midas/low_light_clean/07_finetuned_ssim_comparison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182366"/>
            <a:ext cx="5836920" cy="3364640"/>
          </a:xfrm>
          <a:prstGeom prst="rect">
            <a:avLst/>
          </a:prstGeom>
        </p:spPr>
      </p:pic>
      <p:pic>
        <p:nvPicPr>
          <p:cNvPr id="7" name="Image 2" descr="/mnt/data/final_github_submission/images/task3_midas/low_light_clean/08_extreme_low_light_bar_charts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532" y="3639649"/>
            <a:ext cx="5856454" cy="23467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31258" y="6014851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MiDaS improves both RMSE and SSIM at the darkest level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under Gaussian Noise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89980" y="660093"/>
            <a:ext cx="5590780" cy="117146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 baseline shows rising RMSE and falling SSIM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improves results at every noise level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achieves the lowest RMSE across all tested noise levels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very high noise, blur can retain slightly smoother structure</a:t>
            </a:r>
            <a:endParaRPr lang="en-US" sz="1500" dirty="0"/>
          </a:p>
        </p:txBody>
      </p:sp>
      <p:pic>
        <p:nvPicPr>
          <p:cNvPr id="6" name="Image 1" descr="/mnt/data/final_github_submission/images/task3_midas/gaussian_noise_clean/05_finetuned_gaussian_comparis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30" y="1884083"/>
            <a:ext cx="9592915" cy="38766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95821" y="5813243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helps consistently; fine-tuning focuses on lowering numeric depth error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under JPEG Compression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6406"/>
            <a:ext cx="3974189" cy="11656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model is strongest when compression is mild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partially reduces blocking artifacts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becomes clearly better at low quality factors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Q=2, the fine-tuned model gives the lowest RMSE and highest SSIM</a:t>
            </a:r>
            <a:endParaRPr lang="en-US" sz="1500" dirty="0"/>
          </a:p>
        </p:txBody>
      </p:sp>
      <p:pic>
        <p:nvPicPr>
          <p:cNvPr id="5" name="Image 0" descr="/mnt/data/final_github_submission/images/task3_midas/jpeg_clean/05_finetuned_jpeg_comparis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253" y="820352"/>
            <a:ext cx="6886467" cy="2800529"/>
          </a:xfrm>
          <a:prstGeom prst="rect">
            <a:avLst/>
          </a:prstGeom>
        </p:spPr>
      </p:pic>
      <p:pic>
        <p:nvPicPr>
          <p:cNvPr id="6" name="Image 1" descr="/mnt/data/final_github_submission/images/task3_midas/jpeg_clean/06_finetuned_jpeg_bar_charts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13" y="3703320"/>
            <a:ext cx="7033678" cy="2891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373628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trades a small loss at high quality for stronger robustness at severe compression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75715" y="371367"/>
            <a:ext cx="7800005" cy="15432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robustness depends strongly on the distortion type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enhancement is useful when the distortion has a simple signal-processing structure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more reliable when distortions become severe or structural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metric is not enough: recall, precision, RMSE and SSIM can tell different stories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system should choose between original, enhanced and fine-tuned models according to image quality</a:t>
            </a:r>
            <a:endParaRPr lang="en-US" sz="1600" dirty="0"/>
          </a:p>
        </p:txBody>
      </p:sp>
      <p:pic>
        <p:nvPicPr>
          <p:cNvPr id="5" name="Image 0" descr="/mnt/data/final_github_submission/images/task2_mask_rcnn/jpeg_clean/08_extreme_jpeg_bar_char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09" y="2069995"/>
            <a:ext cx="5670461" cy="2873373"/>
          </a:xfrm>
          <a:prstGeom prst="rect">
            <a:avLst/>
          </a:prstGeom>
        </p:spPr>
      </p:pic>
      <p:pic>
        <p:nvPicPr>
          <p:cNvPr id="6" name="Image 1" descr="/mnt/data/final_github_submission/images/task3_midas/jpeg_clean/06_finetuned_jpeg_bar_charts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571" y="3927847"/>
            <a:ext cx="6141319" cy="25248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89320" y="63733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highlight the advantage of fine-tuning under severe degradation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Ayelet &amp; Noa | Computer Vision Robustness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475720" y="6547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700">
                <a:solidFill>
                  <a:srgbClr val="58636C"/>
                </a:solidFill>
                <a:latin typeface="Aptos"/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60120" y="1828800"/>
            <a:ext cx="10241280" cy="129396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models are reliable on clean images, but performance drops under realistic distortions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enhancement is simple and useful, especially for Gaussian noise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provides stronger robustness under severe low light, noise and JPEG compression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real-world systems should combine quality assessment, preprocessing and model adaptation</a:t>
            </a:r>
            <a:endParaRPr lang="en-US" sz="1800" dirty="0"/>
          </a:p>
        </p:txBody>
      </p:sp>
      <p:sp>
        <p:nvSpPr>
          <p:cNvPr id="6" name="לב 5">
            <a:extLst>
              <a:ext uri="{FF2B5EF4-FFF2-40B4-BE49-F238E27FC236}">
                <a16:creationId xmlns:a16="http://schemas.microsoft.com/office/drawing/2014/main" id="{E49260B4-439A-BDF1-6BAD-5D049C59185E}"/>
              </a:ext>
            </a:extLst>
          </p:cNvPr>
          <p:cNvSpPr/>
          <p:nvPr/>
        </p:nvSpPr>
        <p:spPr>
          <a:xfrm>
            <a:off x="6576779" y="5391508"/>
            <a:ext cx="1350896" cy="1158097"/>
          </a:xfrm>
          <a:prstGeom prst="hear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147743" y="4984774"/>
            <a:ext cx="85742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</a:rPr>
              <a:t>This course was interesting and we really enjoyed,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</a:rPr>
              <a:t>Thank you </a:t>
            </a:r>
            <a:r>
              <a:rPr lang="en-US" sz="3000" b="1" dirty="0">
                <a:solidFill>
                  <a:srgbClr val="1F4E79"/>
                </a:solidFill>
                <a:sym typeface="Wingdings" panose="05000000000000000000" pitchFamily="2" charset="2"/>
              </a:rPr>
              <a:t>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sym typeface="Wingdings" panose="05000000000000000000" pitchFamily="2" charset="2"/>
              </a:rPr>
              <a:t>Ayelet &amp; Noa</a:t>
            </a:r>
            <a:endParaRPr lang="en-US" sz="3000" dirty="0"/>
          </a:p>
        </p:txBody>
      </p:sp>
      <p:sp>
        <p:nvSpPr>
          <p:cNvPr id="7" name="TextBox 6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0">
                <a:solidFill>
                  <a:srgbClr val="58636C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866</Words>
  <Application>Microsoft Office PowerPoint</Application>
  <PresentationFormat>מסך רחב</PresentationFormat>
  <Paragraphs>141</Paragraphs>
  <Slides>18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Wingdings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Bar-Ilan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the Robustness of Computer Vision Models</dc:title>
  <dc:subject>Computer Vision robustness under image distortions</dc:subject>
  <dc:creator>Ayelet &amp; Noa</dc:creator>
  <cp:lastModifiedBy>איילת בסין</cp:lastModifiedBy>
  <cp:revision>10</cp:revision>
  <dcterms:created xsi:type="dcterms:W3CDTF">2026-07-20T22:01:01Z</dcterms:created>
  <dcterms:modified xsi:type="dcterms:W3CDTF">2026-08-03T21:29:58Z</dcterms:modified>
</cp:coreProperties>
</file>